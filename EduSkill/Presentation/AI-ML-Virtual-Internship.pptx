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" charset="1" panose="020B0604020202020204"/>
      <p:regular r:id="rId20"/>
    </p:embeddedFont>
    <p:embeddedFont>
      <p:font typeface="Cabin" charset="1" panose="00000500000000000000"/>
      <p:regular r:id="rId21"/>
    </p:embeddedFont>
    <p:embeddedFont>
      <p:font typeface="Cabin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8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8334" y="771535"/>
            <a:ext cx="6563820" cy="8751980"/>
            <a:chOff x="0" y="0"/>
            <a:chExt cx="8751760" cy="1166930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51697" cy="11669268"/>
            </a:xfrm>
            <a:custGeom>
              <a:avLst/>
              <a:gdLst/>
              <a:ahLst/>
              <a:cxnLst/>
              <a:rect r="r" b="b" t="t" l="l"/>
              <a:pathLst>
                <a:path h="11669268" w="8751697">
                  <a:moveTo>
                    <a:pt x="0" y="0"/>
                  </a:moveTo>
                  <a:lnTo>
                    <a:pt x="8751697" y="0"/>
                  </a:lnTo>
                  <a:lnTo>
                    <a:pt x="8751697" y="11669268"/>
                  </a:lnTo>
                  <a:lnTo>
                    <a:pt x="0" y="11669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" t="0" r="-1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7950" y="2858443"/>
            <a:ext cx="9342758" cy="181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AI-ML Virtual Internship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950" y="5030819"/>
            <a:ext cx="9342758" cy="234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AICTE–EduSkills Virtual Internship Program | </a:t>
            </a:r>
            <a:r>
              <a:rPr lang="en-US" sz="2326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Google AI-ML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| January–March 2026</a:t>
            </a:r>
          </a:p>
          <a:p>
            <a:pPr algn="l">
              <a:lnSpc>
                <a:spcPts val="3713"/>
              </a:lnSpc>
            </a:pPr>
            <a:r>
              <a:rPr lang="en-US" sz="2326" b="true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Rohit Maurya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| IILM University, Greater Noida | B.Tech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2263407"/>
            <a:ext cx="16205949" cy="9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Internship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3800170"/>
            <a:ext cx="5202355" cy="2176977"/>
            <a:chOff x="0" y="0"/>
            <a:chExt cx="6936473" cy="29026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36486" cy="2902712"/>
            </a:xfrm>
            <a:custGeom>
              <a:avLst/>
              <a:gdLst/>
              <a:ahLst/>
              <a:cxnLst/>
              <a:rect r="r" b="b" t="t" l="l"/>
              <a:pathLst>
                <a:path h="2902712" w="6936486">
                  <a:moveTo>
                    <a:pt x="0" y="59944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6876542" y="0"/>
                  </a:lnTo>
                  <a:cubicBezTo>
                    <a:pt x="6909562" y="0"/>
                    <a:pt x="6936486" y="26797"/>
                    <a:pt x="6936486" y="59944"/>
                  </a:cubicBezTo>
                  <a:lnTo>
                    <a:pt x="6936486" y="2842768"/>
                  </a:lnTo>
                  <a:cubicBezTo>
                    <a:pt x="6936486" y="2875788"/>
                    <a:pt x="6909689" y="2902712"/>
                    <a:pt x="6876542" y="2902712"/>
                  </a:cubicBezTo>
                  <a:lnTo>
                    <a:pt x="59944" y="2902712"/>
                  </a:lnTo>
                  <a:cubicBezTo>
                    <a:pt x="26924" y="2902712"/>
                    <a:pt x="0" y="2875915"/>
                    <a:pt x="0" y="2842768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7321" y="4070975"/>
            <a:ext cx="4603613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Program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7321" y="4624207"/>
            <a:ext cx="4603613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AICTE–EduSkills Virtual Internship Program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9666" y="3800170"/>
            <a:ext cx="5202355" cy="2176977"/>
            <a:chOff x="0" y="0"/>
            <a:chExt cx="6936473" cy="29026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36486" cy="2902712"/>
            </a:xfrm>
            <a:custGeom>
              <a:avLst/>
              <a:gdLst/>
              <a:ahLst/>
              <a:cxnLst/>
              <a:rect r="r" b="b" t="t" l="l"/>
              <a:pathLst>
                <a:path h="2902712" w="6936486">
                  <a:moveTo>
                    <a:pt x="0" y="59944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6876542" y="0"/>
                  </a:lnTo>
                  <a:cubicBezTo>
                    <a:pt x="6909562" y="0"/>
                    <a:pt x="6936486" y="26797"/>
                    <a:pt x="6936486" y="59944"/>
                  </a:cubicBezTo>
                  <a:lnTo>
                    <a:pt x="6936486" y="2842768"/>
                  </a:lnTo>
                  <a:cubicBezTo>
                    <a:pt x="6936486" y="2875788"/>
                    <a:pt x="6909689" y="2902712"/>
                    <a:pt x="6876542" y="2902712"/>
                  </a:cubicBezTo>
                  <a:lnTo>
                    <a:pt x="59944" y="2902712"/>
                  </a:lnTo>
                  <a:cubicBezTo>
                    <a:pt x="26924" y="2902712"/>
                    <a:pt x="0" y="2875915"/>
                    <a:pt x="0" y="2842768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49037" y="4070975"/>
            <a:ext cx="4603613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Domain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9037" y="4624207"/>
            <a:ext cx="4603613" cy="57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Google AI-ML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51392" y="3800170"/>
            <a:ext cx="5202498" cy="2176977"/>
            <a:chOff x="0" y="0"/>
            <a:chExt cx="6936664" cy="29026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36739" cy="2902712"/>
            </a:xfrm>
            <a:custGeom>
              <a:avLst/>
              <a:gdLst/>
              <a:ahLst/>
              <a:cxnLst/>
              <a:rect r="r" b="b" t="t" l="l"/>
              <a:pathLst>
                <a:path h="2902712" w="6936739">
                  <a:moveTo>
                    <a:pt x="0" y="59944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6876796" y="0"/>
                  </a:lnTo>
                  <a:cubicBezTo>
                    <a:pt x="6909815" y="0"/>
                    <a:pt x="6936739" y="26797"/>
                    <a:pt x="6936739" y="59944"/>
                  </a:cubicBezTo>
                  <a:lnTo>
                    <a:pt x="6936739" y="2842768"/>
                  </a:lnTo>
                  <a:cubicBezTo>
                    <a:pt x="6936739" y="2875788"/>
                    <a:pt x="6909943" y="2902712"/>
                    <a:pt x="6876796" y="2902712"/>
                  </a:cubicBezTo>
                  <a:lnTo>
                    <a:pt x="59944" y="2902712"/>
                  </a:lnTo>
                  <a:cubicBezTo>
                    <a:pt x="26924" y="2902712"/>
                    <a:pt x="0" y="2875915"/>
                    <a:pt x="0" y="2842768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50763" y="4070975"/>
            <a:ext cx="4603756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Duration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50763" y="4624207"/>
            <a:ext cx="4603756" cy="57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10 Weeks — January to March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950" y="6276518"/>
            <a:ext cx="7953289" cy="1697822"/>
            <a:chOff x="0" y="0"/>
            <a:chExt cx="10604386" cy="22637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04373" cy="2263775"/>
            </a:xfrm>
            <a:custGeom>
              <a:avLst/>
              <a:gdLst/>
              <a:ahLst/>
              <a:cxnLst/>
              <a:rect r="r" b="b" t="t" l="l"/>
              <a:pathLst>
                <a:path h="2263775" w="10604373">
                  <a:moveTo>
                    <a:pt x="0" y="59944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10544429" y="0"/>
                  </a:lnTo>
                  <a:cubicBezTo>
                    <a:pt x="10577449" y="0"/>
                    <a:pt x="10604373" y="26797"/>
                    <a:pt x="10604373" y="59944"/>
                  </a:cubicBezTo>
                  <a:lnTo>
                    <a:pt x="10604373" y="2203831"/>
                  </a:lnTo>
                  <a:cubicBezTo>
                    <a:pt x="10604373" y="2236851"/>
                    <a:pt x="10577576" y="2263775"/>
                    <a:pt x="10544429" y="2263775"/>
                  </a:cubicBezTo>
                  <a:lnTo>
                    <a:pt x="59944" y="2263775"/>
                  </a:lnTo>
                  <a:cubicBezTo>
                    <a:pt x="26924" y="2263775"/>
                    <a:pt x="0" y="2236978"/>
                    <a:pt x="0" y="220383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7321" y="6547323"/>
            <a:ext cx="7354548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Format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7321" y="7100554"/>
            <a:ext cx="7354548" cy="57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Structured virtual learning with practical exposure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00610" y="6276518"/>
            <a:ext cx="7953289" cy="1697822"/>
            <a:chOff x="0" y="0"/>
            <a:chExt cx="10604386" cy="22637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4373" cy="2263775"/>
            </a:xfrm>
            <a:custGeom>
              <a:avLst/>
              <a:gdLst/>
              <a:ahLst/>
              <a:cxnLst/>
              <a:rect r="r" b="b" t="t" l="l"/>
              <a:pathLst>
                <a:path h="2263775" w="10604373">
                  <a:moveTo>
                    <a:pt x="0" y="59944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10544429" y="0"/>
                  </a:lnTo>
                  <a:cubicBezTo>
                    <a:pt x="10577449" y="0"/>
                    <a:pt x="10604373" y="26797"/>
                    <a:pt x="10604373" y="59944"/>
                  </a:cubicBezTo>
                  <a:lnTo>
                    <a:pt x="10604373" y="2203831"/>
                  </a:lnTo>
                  <a:cubicBezTo>
                    <a:pt x="10604373" y="2236851"/>
                    <a:pt x="10577576" y="2263775"/>
                    <a:pt x="10544429" y="2263775"/>
                  </a:cubicBezTo>
                  <a:lnTo>
                    <a:pt x="59944" y="2263775"/>
                  </a:lnTo>
                  <a:cubicBezTo>
                    <a:pt x="26924" y="2263775"/>
                    <a:pt x="0" y="2236978"/>
                    <a:pt x="0" y="220383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99981" y="6547323"/>
            <a:ext cx="7354548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Supported By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99981" y="7100554"/>
            <a:ext cx="7354548" cy="57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EduSkills &amp; Google for Developers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950" y="2548738"/>
            <a:ext cx="5197288" cy="5197421"/>
            <a:chOff x="0" y="0"/>
            <a:chExt cx="6929717" cy="692989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6929755" cy="6929882"/>
            </a:xfrm>
            <a:custGeom>
              <a:avLst/>
              <a:gdLst/>
              <a:ahLst/>
              <a:cxnLst/>
              <a:rect r="r" b="b" t="t" l="l"/>
              <a:pathLst>
                <a:path h="6929882" w="6929755">
                  <a:moveTo>
                    <a:pt x="0" y="0"/>
                  </a:moveTo>
                  <a:lnTo>
                    <a:pt x="6929755" y="0"/>
                  </a:lnTo>
                  <a:lnTo>
                    <a:pt x="6929755" y="6929882"/>
                  </a:lnTo>
                  <a:lnTo>
                    <a:pt x="0" y="6929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85178" y="2898353"/>
            <a:ext cx="10278104" cy="9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Internship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5178" y="4120134"/>
            <a:ext cx="10278104" cy="341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Develop foundational understanding of machine learning and AI concepts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Learn practical AI/ML technologies and frameworks including TensorFlow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Master neural networks and convolutional neural networks (CNNs)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Gain exposure to computer vision and object detection techniques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Build skills in image classification and product image search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Strengthen industry-relevant technical competencies for career readiness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349931"/>
            <a:ext cx="16205949" cy="9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Technologies &amp; Topics Covered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47950" y="2886694"/>
            <a:ext cx="748579" cy="748598"/>
          </a:xfrm>
          <a:custGeom>
            <a:avLst/>
            <a:gdLst/>
            <a:ahLst/>
            <a:cxnLst/>
            <a:rect r="r" b="b" t="t" l="l"/>
            <a:pathLst>
              <a:path h="748598" w="748579">
                <a:moveTo>
                  <a:pt x="0" y="0"/>
                </a:moveTo>
                <a:lnTo>
                  <a:pt x="748579" y="0"/>
                </a:lnTo>
                <a:lnTo>
                  <a:pt x="748579" y="748598"/>
                </a:lnTo>
                <a:lnTo>
                  <a:pt x="0" y="748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98" t="0" r="-379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7950" y="3981012"/>
            <a:ext cx="7915751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Core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950" y="4534243"/>
            <a:ext cx="7915751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TensorFlow — industry-standard deep learning platform for model building and training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37986" y="2886694"/>
            <a:ext cx="748579" cy="748598"/>
          </a:xfrm>
          <a:custGeom>
            <a:avLst/>
            <a:gdLst/>
            <a:ahLst/>
            <a:cxnLst/>
            <a:rect r="r" b="b" t="t" l="l"/>
            <a:pathLst>
              <a:path h="748598" w="748579">
                <a:moveTo>
                  <a:pt x="0" y="0"/>
                </a:moveTo>
                <a:lnTo>
                  <a:pt x="748579" y="0"/>
                </a:lnTo>
                <a:lnTo>
                  <a:pt x="748579" y="748598"/>
                </a:lnTo>
                <a:lnTo>
                  <a:pt x="0" y="748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394" t="0" r="-1139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37986" y="3981012"/>
            <a:ext cx="7915904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Computer Vision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7986" y="4534243"/>
            <a:ext cx="7915904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Neural Networks, CNNs, and Object Detection pipelines for image understanding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47950" y="6186707"/>
            <a:ext cx="748579" cy="748598"/>
          </a:xfrm>
          <a:custGeom>
            <a:avLst/>
            <a:gdLst/>
            <a:ahLst/>
            <a:cxnLst/>
            <a:rect r="r" b="b" t="t" l="l"/>
            <a:pathLst>
              <a:path h="748598" w="748579">
                <a:moveTo>
                  <a:pt x="0" y="0"/>
                </a:moveTo>
                <a:lnTo>
                  <a:pt x="748579" y="0"/>
                </a:lnTo>
                <a:lnTo>
                  <a:pt x="748579" y="748598"/>
                </a:lnTo>
                <a:lnTo>
                  <a:pt x="0" y="748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7213" r="0" b="-2721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7950" y="7281024"/>
            <a:ext cx="7915751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Mobile ML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950" y="7834255"/>
            <a:ext cx="7915751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TensorFlow Lite and TensorFlow Lite Model Maker for on-device inference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37986" y="6186707"/>
            <a:ext cx="748579" cy="748598"/>
          </a:xfrm>
          <a:custGeom>
            <a:avLst/>
            <a:gdLst/>
            <a:ahLst/>
            <a:cxnLst/>
            <a:rect r="r" b="b" t="t" l="l"/>
            <a:pathLst>
              <a:path h="748598" w="748579">
                <a:moveTo>
                  <a:pt x="0" y="0"/>
                </a:moveTo>
                <a:lnTo>
                  <a:pt x="748579" y="0"/>
                </a:lnTo>
                <a:lnTo>
                  <a:pt x="748579" y="748598"/>
                </a:lnTo>
                <a:lnTo>
                  <a:pt x="0" y="748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31" r="0" b="-63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37986" y="7281024"/>
            <a:ext cx="7915904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Applications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7986" y="7834255"/>
            <a:ext cx="7915904" cy="105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Image Classification, Product Image Search, and Android app integration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049655"/>
            <a:ext cx="16205949" cy="181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Week 1: Neural Networks with TensorFlow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3654057"/>
            <a:ext cx="5197288" cy="5197421"/>
            <a:chOff x="0" y="0"/>
            <a:chExt cx="6929717" cy="692989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929755" cy="6929882"/>
            </a:xfrm>
            <a:custGeom>
              <a:avLst/>
              <a:gdLst/>
              <a:ahLst/>
              <a:cxnLst/>
              <a:rect r="r" b="b" t="t" l="l"/>
              <a:pathLst>
                <a:path h="6929882" w="6929755">
                  <a:moveTo>
                    <a:pt x="0" y="0"/>
                  </a:moveTo>
                  <a:lnTo>
                    <a:pt x="6929755" y="0"/>
                  </a:lnTo>
                  <a:lnTo>
                    <a:pt x="6929755" y="6929882"/>
                  </a:lnTo>
                  <a:lnTo>
                    <a:pt x="0" y="6929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985178" y="3684889"/>
            <a:ext cx="1469155" cy="455028"/>
            <a:chOff x="0" y="0"/>
            <a:chExt cx="1958873" cy="6067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848" cy="606679"/>
            </a:xfrm>
            <a:custGeom>
              <a:avLst/>
              <a:gdLst/>
              <a:ahLst/>
              <a:cxnLst/>
              <a:rect r="r" b="b" t="t" l="l"/>
              <a:pathLst>
                <a:path h="606679" w="1958848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1910969" y="0"/>
                  </a:lnTo>
                  <a:cubicBezTo>
                    <a:pt x="1937385" y="0"/>
                    <a:pt x="1958848" y="21463"/>
                    <a:pt x="1958848" y="47879"/>
                  </a:cubicBezTo>
                  <a:lnTo>
                    <a:pt x="1958848" y="558800"/>
                  </a:lnTo>
                  <a:cubicBezTo>
                    <a:pt x="1958848" y="585216"/>
                    <a:pt x="1937385" y="606679"/>
                    <a:pt x="1910969" y="606679"/>
                  </a:cubicBezTo>
                  <a:lnTo>
                    <a:pt x="47879" y="606679"/>
                  </a:lnTo>
                  <a:cubicBezTo>
                    <a:pt x="21463" y="606679"/>
                    <a:pt x="0" y="585216"/>
                    <a:pt x="0" y="558800"/>
                  </a:cubicBezTo>
                  <a:close/>
                </a:path>
              </a:pathLst>
            </a:custGeom>
            <a:solidFill>
              <a:srgbClr val="05484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64800" y="3784225"/>
            <a:ext cx="2024996" cy="2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MODULE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5178" y="4221566"/>
            <a:ext cx="10278104" cy="144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Program Neural Networks with TensorFlow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5178" y="5952896"/>
            <a:ext cx="10278104" cy="309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b="true" sz="2326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Machine Learning Fundamentals: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Core concepts from first principles — supervised learning, loss functions, and gradient descent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b="true" sz="2326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Convolutional Neural Networks: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CNN architecture designed for image recognition and feature extraction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b="true" sz="2326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Advanced Image Classification: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Applying CNNs to real-world computer vision classification problems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989476"/>
            <a:ext cx="16205949" cy="79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Weeks 2–3: Object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63454" y="2218382"/>
            <a:ext cx="13774931" cy="6042679"/>
            <a:chOff x="0" y="0"/>
            <a:chExt cx="18366575" cy="805690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8366612" cy="8056880"/>
            </a:xfrm>
            <a:custGeom>
              <a:avLst/>
              <a:gdLst/>
              <a:ahLst/>
              <a:cxnLst/>
              <a:rect r="r" b="b" t="t" l="l"/>
              <a:pathLst>
                <a:path h="8056880" w="18366612">
                  <a:moveTo>
                    <a:pt x="0" y="0"/>
                  </a:moveTo>
                  <a:lnTo>
                    <a:pt x="18366612" y="0"/>
                  </a:lnTo>
                  <a:lnTo>
                    <a:pt x="18366612" y="8056880"/>
                  </a:lnTo>
                  <a:lnTo>
                    <a:pt x="0" y="805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t="0" r="-2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21744" y="6548190"/>
            <a:ext cx="2806475" cy="37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Week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74916" y="7042937"/>
            <a:ext cx="3100130" cy="54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Basics of object detection with pretrained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4060" y="2811580"/>
            <a:ext cx="2806475" cy="37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Week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7241" y="3306328"/>
            <a:ext cx="3100130" cy="81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Custom detection via TFLite Model Maker and mobile 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950" y="8447284"/>
            <a:ext cx="16205949" cy="81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95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Object detection skills progressed from leveraging pretrained models in Week 2 to building custom, mobile-ready detectors with TensorFlow Lite in Week 3 — laying the foundation for real-world Android deployment.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3294" y="751427"/>
            <a:ext cx="6593757" cy="8792042"/>
            <a:chOff x="0" y="0"/>
            <a:chExt cx="8791677" cy="1172272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91702" cy="11722735"/>
            </a:xfrm>
            <a:custGeom>
              <a:avLst/>
              <a:gdLst/>
              <a:ahLst/>
              <a:cxnLst/>
              <a:rect r="r" b="b" t="t" l="l"/>
              <a:pathLst>
                <a:path h="11722735" w="8791702">
                  <a:moveTo>
                    <a:pt x="0" y="0"/>
                  </a:moveTo>
                  <a:lnTo>
                    <a:pt x="8791702" y="0"/>
                  </a:lnTo>
                  <a:lnTo>
                    <a:pt x="8791702" y="11722735"/>
                  </a:lnTo>
                  <a:lnTo>
                    <a:pt x="0" y="1172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7950" y="919029"/>
            <a:ext cx="9342758" cy="16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Weeks 4–6: Product Image Search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47950" y="2915736"/>
            <a:ext cx="9342758" cy="1975895"/>
          </a:xfrm>
          <a:custGeom>
            <a:avLst/>
            <a:gdLst/>
            <a:ahLst/>
            <a:cxnLst/>
            <a:rect r="r" b="b" t="t" l="l"/>
            <a:pathLst>
              <a:path h="1975895" w="9342758">
                <a:moveTo>
                  <a:pt x="0" y="0"/>
                </a:moveTo>
                <a:lnTo>
                  <a:pt x="9342758" y="0"/>
                </a:lnTo>
                <a:lnTo>
                  <a:pt x="9342758" y="1975894"/>
                </a:lnTo>
                <a:lnTo>
                  <a:pt x="0" y="19758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7" r="0" b="-12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22835" y="3651075"/>
            <a:ext cx="404222" cy="505216"/>
            <a:chOff x="0" y="0"/>
            <a:chExt cx="538963" cy="6736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8967" cy="673626"/>
            </a:xfrm>
            <a:custGeom>
              <a:avLst/>
              <a:gdLst/>
              <a:ahLst/>
              <a:cxnLst/>
              <a:rect r="r" b="b" t="t" l="l"/>
              <a:pathLst>
                <a:path h="673626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673626"/>
                  </a:lnTo>
                  <a:lnTo>
                    <a:pt x="0" y="673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58" t="0" r="-11035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38963" cy="692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06434" y="3204258"/>
            <a:ext cx="7676702" cy="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Week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06434" y="3698491"/>
            <a:ext cx="7676702" cy="88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1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Build product image search using on-device object detection capabilities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47950" y="5134118"/>
            <a:ext cx="9342758" cy="1975895"/>
          </a:xfrm>
          <a:custGeom>
            <a:avLst/>
            <a:gdLst/>
            <a:ahLst/>
            <a:cxnLst/>
            <a:rect r="r" b="b" t="t" l="l"/>
            <a:pathLst>
              <a:path h="1975895" w="9342758">
                <a:moveTo>
                  <a:pt x="0" y="0"/>
                </a:moveTo>
                <a:lnTo>
                  <a:pt x="9342758" y="0"/>
                </a:lnTo>
                <a:lnTo>
                  <a:pt x="9342758" y="1975894"/>
                </a:lnTo>
                <a:lnTo>
                  <a:pt x="0" y="19758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7" r="0" b="-127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422835" y="5869457"/>
            <a:ext cx="404222" cy="505216"/>
            <a:chOff x="0" y="0"/>
            <a:chExt cx="538963" cy="6736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8967" cy="673626"/>
            </a:xfrm>
            <a:custGeom>
              <a:avLst/>
              <a:gdLst/>
              <a:ahLst/>
              <a:cxnLst/>
              <a:rect r="r" b="b" t="t" l="l"/>
              <a:pathLst>
                <a:path h="673626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673626"/>
                  </a:lnTo>
                  <a:lnTo>
                    <a:pt x="0" y="673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58" t="0" r="-11035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38963" cy="692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06434" y="5422640"/>
            <a:ext cx="7676702" cy="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Week 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06434" y="5916873"/>
            <a:ext cx="7676702" cy="88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1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Detect objects in static images and live camera feeds directly on Android devices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1047950" y="7352490"/>
            <a:ext cx="9342758" cy="1975895"/>
          </a:xfrm>
          <a:custGeom>
            <a:avLst/>
            <a:gdLst/>
            <a:ahLst/>
            <a:cxnLst/>
            <a:rect r="r" b="b" t="t" l="l"/>
            <a:pathLst>
              <a:path h="1975895" w="9342758">
                <a:moveTo>
                  <a:pt x="0" y="0"/>
                </a:moveTo>
                <a:lnTo>
                  <a:pt x="9342758" y="0"/>
                </a:lnTo>
                <a:lnTo>
                  <a:pt x="9342758" y="1975895"/>
                </a:lnTo>
                <a:lnTo>
                  <a:pt x="0" y="19758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7" r="0" b="-127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22835" y="8087830"/>
            <a:ext cx="404222" cy="505216"/>
            <a:chOff x="0" y="0"/>
            <a:chExt cx="538963" cy="6736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8967" cy="673626"/>
            </a:xfrm>
            <a:custGeom>
              <a:avLst/>
              <a:gdLst/>
              <a:ahLst/>
              <a:cxnLst/>
              <a:rect r="r" b="b" t="t" l="l"/>
              <a:pathLst>
                <a:path h="673626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673626"/>
                  </a:lnTo>
                  <a:lnTo>
                    <a:pt x="0" y="6736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58" t="0" r="-11035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38963" cy="692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406434" y="7641012"/>
            <a:ext cx="7676702" cy="4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Week 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06434" y="8135255"/>
            <a:ext cx="7676702" cy="88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1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Build and integrate a fully functional product image search backend system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668970"/>
            <a:ext cx="10278104" cy="181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Weeks 7–8: Image Classification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3178" y="3819535"/>
            <a:ext cx="1708347" cy="464553"/>
            <a:chOff x="0" y="0"/>
            <a:chExt cx="2277796" cy="6194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7745" cy="619379"/>
            </a:xfrm>
            <a:custGeom>
              <a:avLst/>
              <a:gdLst/>
              <a:ahLst/>
              <a:cxnLst/>
              <a:rect r="r" b="b" t="t" l="l"/>
              <a:pathLst>
                <a:path h="619379" w="2277745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2228850" y="0"/>
                  </a:lnTo>
                  <a:cubicBezTo>
                    <a:pt x="2255901" y="0"/>
                    <a:pt x="2277745" y="21844"/>
                    <a:pt x="2277745" y="48895"/>
                  </a:cubicBezTo>
                  <a:lnTo>
                    <a:pt x="2277745" y="570484"/>
                  </a:lnTo>
                  <a:cubicBezTo>
                    <a:pt x="2277745" y="597535"/>
                    <a:pt x="2255901" y="619379"/>
                    <a:pt x="2228850" y="619379"/>
                  </a:cubicBezTo>
                  <a:lnTo>
                    <a:pt x="48895" y="619379"/>
                  </a:lnTo>
                  <a:cubicBezTo>
                    <a:pt x="21844" y="619379"/>
                    <a:pt x="0" y="597535"/>
                    <a:pt x="0" y="57048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5" r="-2" b="-21659"/>
              </a:stretch>
            </a:blipFill>
            <a:ln w="9532" cap="sq">
              <a:solidFill>
                <a:srgbClr val="0A988B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27572" y="3923633"/>
            <a:ext cx="2254663" cy="2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WEEKS 7 &amp; 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950" y="4600632"/>
            <a:ext cx="10278104" cy="416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b="true" sz="2326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Week 7: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Build custom image-classification models using TensorFlow and Model Maker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b="true" sz="2326">
                <a:solidFill>
                  <a:srgbClr val="CAD6DE"/>
                </a:solidFill>
                <a:latin typeface="Cabin Bold"/>
                <a:ea typeface="Cabin Bold"/>
                <a:cs typeface="Cabin Bold"/>
                <a:sym typeface="Cabin Bold"/>
              </a:rPr>
              <a:t>Week 8:</a:t>
            </a: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Create a custom image classifier and integrate it into a functional Android app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Practical end-to-end model development — from training to on-device deployment</a:t>
            </a:r>
          </a:p>
          <a:p>
            <a:pPr algn="l" marL="421423" indent="-210712" lvl="1">
              <a:lnSpc>
                <a:spcPts val="3713"/>
              </a:lnSpc>
              <a:buFont typeface="Arial"/>
              <a:buChar char="•"/>
            </a:pPr>
            <a:r>
              <a:rPr lang="en-US" sz="232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Culminating module consolidating all computer vision skills acquired across the program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65984" y="2548738"/>
            <a:ext cx="5197288" cy="5197421"/>
            <a:chOff x="0" y="0"/>
            <a:chExt cx="6929717" cy="692989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929755" cy="6929882"/>
            </a:xfrm>
            <a:custGeom>
              <a:avLst/>
              <a:gdLst/>
              <a:ahLst/>
              <a:cxnLst/>
              <a:rect r="r" b="b" t="t" l="l"/>
              <a:pathLst>
                <a:path h="6929882" w="6929755">
                  <a:moveTo>
                    <a:pt x="0" y="0"/>
                  </a:moveTo>
                  <a:lnTo>
                    <a:pt x="6929755" y="0"/>
                  </a:lnTo>
                  <a:lnTo>
                    <a:pt x="6929755" y="6929882"/>
                  </a:lnTo>
                  <a:lnTo>
                    <a:pt x="0" y="6929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010021"/>
            <a:ext cx="16205949" cy="74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Assessment &amp; Evaluation Structure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36618" y="2136010"/>
            <a:ext cx="28594" cy="5722001"/>
            <a:chOff x="0" y="0"/>
            <a:chExt cx="38125" cy="76293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7629271"/>
            </a:xfrm>
            <a:custGeom>
              <a:avLst/>
              <a:gdLst/>
              <a:ahLst/>
              <a:cxnLst/>
              <a:rect r="r" b="b" t="t" l="l"/>
              <a:pathLst>
                <a:path h="762927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610221"/>
                  </a:lnTo>
                  <a:cubicBezTo>
                    <a:pt x="38100" y="7620762"/>
                    <a:pt x="29591" y="7629271"/>
                    <a:pt x="19050" y="7629271"/>
                  </a:cubicBezTo>
                  <a:cubicBezTo>
                    <a:pt x="8509" y="7629271"/>
                    <a:pt x="0" y="7620762"/>
                    <a:pt x="0" y="7610221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91443" y="2391156"/>
            <a:ext cx="718642" cy="28594"/>
            <a:chOff x="0" y="0"/>
            <a:chExt cx="958190" cy="38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8215" cy="38100"/>
            </a:xfrm>
            <a:custGeom>
              <a:avLst/>
              <a:gdLst/>
              <a:ahLst/>
              <a:cxnLst/>
              <a:rect r="r" b="b" t="t" l="l"/>
              <a:pathLst>
                <a:path h="38100" w="9582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9165" y="0"/>
                  </a:lnTo>
                  <a:cubicBezTo>
                    <a:pt x="949706" y="0"/>
                    <a:pt x="958215" y="8509"/>
                    <a:pt x="958215" y="19050"/>
                  </a:cubicBezTo>
                  <a:cubicBezTo>
                    <a:pt x="958215" y="29591"/>
                    <a:pt x="949706" y="38100"/>
                    <a:pt x="93916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81481" y="2136010"/>
            <a:ext cx="538867" cy="538877"/>
            <a:chOff x="0" y="0"/>
            <a:chExt cx="718490" cy="7185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8439" cy="718440"/>
            </a:xfrm>
            <a:custGeom>
              <a:avLst/>
              <a:gdLst/>
              <a:ahLst/>
              <a:cxnLst/>
              <a:rect r="r" b="b" t="t" l="l"/>
              <a:pathLst>
                <a:path h="718440" w="718439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560" y="0"/>
                  </a:lnTo>
                  <a:cubicBezTo>
                    <a:pt x="696976" y="0"/>
                    <a:pt x="718439" y="21463"/>
                    <a:pt x="718439" y="47879"/>
                  </a:cubicBezTo>
                  <a:lnTo>
                    <a:pt x="718439" y="670560"/>
                  </a:lnTo>
                  <a:cubicBezTo>
                    <a:pt x="718439" y="696976"/>
                    <a:pt x="696976" y="718439"/>
                    <a:pt x="670560" y="718439"/>
                  </a:cubicBezTo>
                  <a:lnTo>
                    <a:pt x="47879" y="718439"/>
                  </a:lnTo>
                  <a:cubicBezTo>
                    <a:pt x="21463" y="718566"/>
                    <a:pt x="0" y="697103"/>
                    <a:pt x="0" y="67056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981875" y="2194103"/>
            <a:ext cx="338099" cy="422700"/>
            <a:chOff x="0" y="0"/>
            <a:chExt cx="450799" cy="5636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794" cy="563606"/>
            </a:xfrm>
            <a:custGeom>
              <a:avLst/>
              <a:gdLst/>
              <a:ahLst/>
              <a:cxnLst/>
              <a:rect r="r" b="b" t="t" l="l"/>
              <a:pathLst>
                <a:path h="563606" w="450794">
                  <a:moveTo>
                    <a:pt x="0" y="0"/>
                  </a:moveTo>
                  <a:lnTo>
                    <a:pt x="450794" y="0"/>
                  </a:lnTo>
                  <a:lnTo>
                    <a:pt x="450794" y="563606"/>
                  </a:lnTo>
                  <a:lnTo>
                    <a:pt x="0" y="563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9" t="0" r="-110410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50799" cy="58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7950" y="2189655"/>
            <a:ext cx="6905196" cy="38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6"/>
              </a:lnSpc>
            </a:pPr>
            <a:r>
              <a:rPr lang="en-US" sz="21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Weeks 1–8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7950" y="2637844"/>
            <a:ext cx="690519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Weekly assessments tracking module progress and conceptual understanding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91755" y="3732552"/>
            <a:ext cx="718642" cy="28594"/>
            <a:chOff x="0" y="0"/>
            <a:chExt cx="958190" cy="381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8215" cy="38100"/>
            </a:xfrm>
            <a:custGeom>
              <a:avLst/>
              <a:gdLst/>
              <a:ahLst/>
              <a:cxnLst/>
              <a:rect r="r" b="b" t="t" l="l"/>
              <a:pathLst>
                <a:path h="38100" w="9582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9165" y="0"/>
                  </a:lnTo>
                  <a:cubicBezTo>
                    <a:pt x="949706" y="0"/>
                    <a:pt x="958215" y="8509"/>
                    <a:pt x="958215" y="19050"/>
                  </a:cubicBezTo>
                  <a:cubicBezTo>
                    <a:pt x="958215" y="29591"/>
                    <a:pt x="949706" y="38100"/>
                    <a:pt x="93916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81481" y="3477406"/>
            <a:ext cx="538867" cy="538877"/>
            <a:chOff x="0" y="0"/>
            <a:chExt cx="718490" cy="7185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8439" cy="718440"/>
            </a:xfrm>
            <a:custGeom>
              <a:avLst/>
              <a:gdLst/>
              <a:ahLst/>
              <a:cxnLst/>
              <a:rect r="r" b="b" t="t" l="l"/>
              <a:pathLst>
                <a:path h="718440" w="718439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560" y="0"/>
                  </a:lnTo>
                  <a:cubicBezTo>
                    <a:pt x="696976" y="0"/>
                    <a:pt x="718439" y="21463"/>
                    <a:pt x="718439" y="47879"/>
                  </a:cubicBezTo>
                  <a:lnTo>
                    <a:pt x="718439" y="670560"/>
                  </a:lnTo>
                  <a:cubicBezTo>
                    <a:pt x="718439" y="696976"/>
                    <a:pt x="696976" y="718439"/>
                    <a:pt x="670560" y="718439"/>
                  </a:cubicBezTo>
                  <a:lnTo>
                    <a:pt x="47879" y="718439"/>
                  </a:lnTo>
                  <a:cubicBezTo>
                    <a:pt x="21463" y="718566"/>
                    <a:pt x="0" y="697103"/>
                    <a:pt x="0" y="67056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81875" y="3535499"/>
            <a:ext cx="338099" cy="422700"/>
            <a:chOff x="0" y="0"/>
            <a:chExt cx="450799" cy="5636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0794" cy="563606"/>
            </a:xfrm>
            <a:custGeom>
              <a:avLst/>
              <a:gdLst/>
              <a:ahLst/>
              <a:cxnLst/>
              <a:rect r="r" b="b" t="t" l="l"/>
              <a:pathLst>
                <a:path h="563606" w="450794">
                  <a:moveTo>
                    <a:pt x="0" y="0"/>
                  </a:moveTo>
                  <a:lnTo>
                    <a:pt x="450794" y="0"/>
                  </a:lnTo>
                  <a:lnTo>
                    <a:pt x="450794" y="563606"/>
                  </a:lnTo>
                  <a:lnTo>
                    <a:pt x="0" y="563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9" t="0" r="-110410" b="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50799" cy="58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348703" y="3531051"/>
            <a:ext cx="6905196" cy="38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Module Submissions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8703" y="3979240"/>
            <a:ext cx="690519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Project documentation and assignments submitted for select modules throughout the program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91443" y="4923511"/>
            <a:ext cx="718642" cy="28594"/>
            <a:chOff x="0" y="0"/>
            <a:chExt cx="958190" cy="38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8215" cy="38100"/>
            </a:xfrm>
            <a:custGeom>
              <a:avLst/>
              <a:gdLst/>
              <a:ahLst/>
              <a:cxnLst/>
              <a:rect r="r" b="b" t="t" l="l"/>
              <a:pathLst>
                <a:path h="38100" w="9582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9165" y="0"/>
                  </a:lnTo>
                  <a:cubicBezTo>
                    <a:pt x="949706" y="0"/>
                    <a:pt x="958215" y="8509"/>
                    <a:pt x="958215" y="19050"/>
                  </a:cubicBezTo>
                  <a:cubicBezTo>
                    <a:pt x="958215" y="29591"/>
                    <a:pt x="949706" y="38100"/>
                    <a:pt x="93916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881481" y="4668364"/>
            <a:ext cx="538867" cy="538877"/>
            <a:chOff x="0" y="0"/>
            <a:chExt cx="718490" cy="7185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8439" cy="718440"/>
            </a:xfrm>
            <a:custGeom>
              <a:avLst/>
              <a:gdLst/>
              <a:ahLst/>
              <a:cxnLst/>
              <a:rect r="r" b="b" t="t" l="l"/>
              <a:pathLst>
                <a:path h="718440" w="718439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560" y="0"/>
                  </a:lnTo>
                  <a:cubicBezTo>
                    <a:pt x="696976" y="0"/>
                    <a:pt x="718439" y="21463"/>
                    <a:pt x="718439" y="47879"/>
                  </a:cubicBezTo>
                  <a:lnTo>
                    <a:pt x="718439" y="670560"/>
                  </a:lnTo>
                  <a:cubicBezTo>
                    <a:pt x="718439" y="696976"/>
                    <a:pt x="696976" y="718439"/>
                    <a:pt x="670560" y="718439"/>
                  </a:cubicBezTo>
                  <a:lnTo>
                    <a:pt x="47879" y="718439"/>
                  </a:lnTo>
                  <a:cubicBezTo>
                    <a:pt x="21463" y="718566"/>
                    <a:pt x="0" y="697103"/>
                    <a:pt x="0" y="67056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81875" y="4726457"/>
            <a:ext cx="338099" cy="422700"/>
            <a:chOff x="0" y="0"/>
            <a:chExt cx="450799" cy="5636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0794" cy="563606"/>
            </a:xfrm>
            <a:custGeom>
              <a:avLst/>
              <a:gdLst/>
              <a:ahLst/>
              <a:cxnLst/>
              <a:rect r="r" b="b" t="t" l="l"/>
              <a:pathLst>
                <a:path h="563606" w="450794">
                  <a:moveTo>
                    <a:pt x="0" y="0"/>
                  </a:moveTo>
                  <a:lnTo>
                    <a:pt x="450794" y="0"/>
                  </a:lnTo>
                  <a:lnTo>
                    <a:pt x="450794" y="563606"/>
                  </a:lnTo>
                  <a:lnTo>
                    <a:pt x="0" y="563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9" t="0" r="-110410" b="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50799" cy="58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47950" y="4722009"/>
            <a:ext cx="6905196" cy="38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6"/>
              </a:lnSpc>
            </a:pPr>
            <a:r>
              <a:rPr lang="en-US" sz="21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Week 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7950" y="5170199"/>
            <a:ext cx="690519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2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Comprehensive assessment evaluating cumulative learning outcomes across all modules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91755" y="6114469"/>
            <a:ext cx="718642" cy="28594"/>
            <a:chOff x="0" y="0"/>
            <a:chExt cx="958190" cy="381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8215" cy="38100"/>
            </a:xfrm>
            <a:custGeom>
              <a:avLst/>
              <a:gdLst/>
              <a:ahLst/>
              <a:cxnLst/>
              <a:rect r="r" b="b" t="t" l="l"/>
              <a:pathLst>
                <a:path h="38100" w="9582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9165" y="0"/>
                  </a:lnTo>
                  <a:cubicBezTo>
                    <a:pt x="949706" y="0"/>
                    <a:pt x="958215" y="8509"/>
                    <a:pt x="958215" y="19050"/>
                  </a:cubicBezTo>
                  <a:cubicBezTo>
                    <a:pt x="958215" y="29591"/>
                    <a:pt x="949706" y="38100"/>
                    <a:pt x="93916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606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881481" y="5859323"/>
            <a:ext cx="538867" cy="538877"/>
            <a:chOff x="0" y="0"/>
            <a:chExt cx="718490" cy="7185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8439" cy="718440"/>
            </a:xfrm>
            <a:custGeom>
              <a:avLst/>
              <a:gdLst/>
              <a:ahLst/>
              <a:cxnLst/>
              <a:rect r="r" b="b" t="t" l="l"/>
              <a:pathLst>
                <a:path h="718440" w="718439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70560" y="0"/>
                  </a:lnTo>
                  <a:cubicBezTo>
                    <a:pt x="696976" y="0"/>
                    <a:pt x="718439" y="21463"/>
                    <a:pt x="718439" y="47879"/>
                  </a:cubicBezTo>
                  <a:lnTo>
                    <a:pt x="718439" y="670560"/>
                  </a:lnTo>
                  <a:cubicBezTo>
                    <a:pt x="718439" y="696976"/>
                    <a:pt x="696976" y="718439"/>
                    <a:pt x="670560" y="718439"/>
                  </a:cubicBezTo>
                  <a:lnTo>
                    <a:pt x="47879" y="718439"/>
                  </a:lnTo>
                  <a:cubicBezTo>
                    <a:pt x="21463" y="718566"/>
                    <a:pt x="0" y="697103"/>
                    <a:pt x="0" y="670560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981875" y="5917416"/>
            <a:ext cx="338099" cy="422700"/>
            <a:chOff x="0" y="0"/>
            <a:chExt cx="450799" cy="5636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0794" cy="563606"/>
            </a:xfrm>
            <a:custGeom>
              <a:avLst/>
              <a:gdLst/>
              <a:ahLst/>
              <a:cxnLst/>
              <a:rect r="r" b="b" t="t" l="l"/>
              <a:pathLst>
                <a:path h="563606" w="450794">
                  <a:moveTo>
                    <a:pt x="0" y="0"/>
                  </a:moveTo>
                  <a:lnTo>
                    <a:pt x="450794" y="0"/>
                  </a:lnTo>
                  <a:lnTo>
                    <a:pt x="450794" y="563606"/>
                  </a:lnTo>
                  <a:lnTo>
                    <a:pt x="0" y="563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09" t="0" r="-110410" b="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50799" cy="58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348703" y="5912968"/>
            <a:ext cx="6905196" cy="38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Week 10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48703" y="6361157"/>
            <a:ext cx="690519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76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Final credential validation and official certification issuance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47950" y="8073533"/>
            <a:ext cx="16205949" cy="1173385"/>
            <a:chOff x="0" y="0"/>
            <a:chExt cx="21607932" cy="15645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607907" cy="1564513"/>
            </a:xfrm>
            <a:custGeom>
              <a:avLst/>
              <a:gdLst/>
              <a:ahLst/>
              <a:cxnLst/>
              <a:rect r="r" b="b" t="t" l="l"/>
              <a:pathLst>
                <a:path h="1564513" w="21607907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21560028" y="0"/>
                  </a:lnTo>
                  <a:cubicBezTo>
                    <a:pt x="21586444" y="0"/>
                    <a:pt x="21607907" y="21463"/>
                    <a:pt x="21607907" y="47879"/>
                  </a:cubicBezTo>
                  <a:lnTo>
                    <a:pt x="21607907" y="1516634"/>
                  </a:lnTo>
                  <a:cubicBezTo>
                    <a:pt x="21607907" y="1543050"/>
                    <a:pt x="21586444" y="1564513"/>
                    <a:pt x="21560028" y="1564513"/>
                  </a:cubicBezTo>
                  <a:lnTo>
                    <a:pt x="47879" y="1564513"/>
                  </a:lnTo>
                  <a:cubicBezTo>
                    <a:pt x="21463" y="1564513"/>
                    <a:pt x="0" y="1543050"/>
                    <a:pt x="0" y="1516634"/>
                  </a:cubicBezTo>
                  <a:close/>
                </a:path>
              </a:pathLst>
            </a:custGeom>
            <a:solidFill>
              <a:srgbClr val="08786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87447" y="8353701"/>
            <a:ext cx="299371" cy="239506"/>
            <a:chOff x="0" y="0"/>
            <a:chExt cx="399161" cy="319342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399161" cy="319278"/>
            </a:xfrm>
            <a:custGeom>
              <a:avLst/>
              <a:gdLst/>
              <a:ahLst/>
              <a:cxnLst/>
              <a:rect r="r" b="b" t="t" l="l"/>
              <a:pathLst>
                <a:path h="319278" w="399161">
                  <a:moveTo>
                    <a:pt x="0" y="0"/>
                  </a:moveTo>
                  <a:lnTo>
                    <a:pt x="399161" y="0"/>
                  </a:lnTo>
                  <a:lnTo>
                    <a:pt x="399161" y="319278"/>
                  </a:lnTo>
                  <a:lnTo>
                    <a:pt x="0" y="319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79" r="0" b="-799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826314" y="8277330"/>
            <a:ext cx="1518808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76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Final grade determined by overall performance across all assessment components — weekly evaluations, project submissions, and the Week 9 comprehensive assessment.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798214"/>
            <a:ext cx="16205949" cy="4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Skills &amp; Learning Outcomes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1463383"/>
            <a:ext cx="7920371" cy="7920571"/>
            <a:chOff x="0" y="0"/>
            <a:chExt cx="10560494" cy="1056076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560558" cy="10560812"/>
            </a:xfrm>
            <a:custGeom>
              <a:avLst/>
              <a:gdLst/>
              <a:ahLst/>
              <a:cxnLst/>
              <a:rect r="r" b="b" t="t" l="l"/>
              <a:pathLst>
                <a:path h="10560812" w="10560558">
                  <a:moveTo>
                    <a:pt x="0" y="0"/>
                  </a:moveTo>
                  <a:lnTo>
                    <a:pt x="10560558" y="0"/>
                  </a:lnTo>
                  <a:lnTo>
                    <a:pt x="10560558" y="10560812"/>
                  </a:lnTo>
                  <a:lnTo>
                    <a:pt x="0" y="10560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43053" y="4464177"/>
            <a:ext cx="7920371" cy="23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Technical Competencies Gained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3053" y="4768615"/>
            <a:ext cx="7920371" cy="36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Over 10 structured weeks, this program built a comprehensive and industry-aligned AI/ML skill set spanning theory, frameworks, and real-world deployment.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43053" y="5235083"/>
            <a:ext cx="7920371" cy="117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Machine Learning fundamentals and neural network architecture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TensorFlow and deep learning frameworks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Computer vision and image processing techniques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Object detection and image classification models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Mobile ML deployment with TensorFlow Lite</a:t>
            </a:r>
          </a:p>
          <a:p>
            <a:pPr algn="l" marL="203914" indent="-101957" lvl="1">
              <a:lnSpc>
                <a:spcPts val="1351"/>
              </a:lnSpc>
              <a:buFont typeface="Arial"/>
              <a:buChar char="•"/>
            </a:pPr>
            <a:r>
              <a:rPr lang="en-US" sz="1125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Product image search and visual search systems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83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260" y="701678"/>
            <a:ext cx="6668529" cy="8891692"/>
            <a:chOff x="0" y="0"/>
            <a:chExt cx="8891372" cy="1185559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91397" cy="11855577"/>
            </a:xfrm>
            <a:custGeom>
              <a:avLst/>
              <a:gdLst/>
              <a:ahLst/>
              <a:cxnLst/>
              <a:rect r="r" b="b" t="t" l="l"/>
              <a:pathLst>
                <a:path h="11855577" w="8891397">
                  <a:moveTo>
                    <a:pt x="0" y="0"/>
                  </a:moveTo>
                  <a:lnTo>
                    <a:pt x="8891397" y="0"/>
                  </a:lnTo>
                  <a:lnTo>
                    <a:pt x="8891397" y="11855577"/>
                  </a:lnTo>
                  <a:lnTo>
                    <a:pt x="0" y="11855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11141" y="1102223"/>
            <a:ext cx="9342758" cy="61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Internship Experience &amp; Impact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911141" y="1902466"/>
            <a:ext cx="9342758" cy="1718224"/>
            <a:chOff x="0" y="0"/>
            <a:chExt cx="12457011" cy="2290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56922" cy="2290953"/>
            </a:xfrm>
            <a:custGeom>
              <a:avLst/>
              <a:gdLst/>
              <a:ahLst/>
              <a:cxnLst/>
              <a:rect r="r" b="b" t="t" l="l"/>
              <a:pathLst>
                <a:path h="2290953" w="12456922">
                  <a:moveTo>
                    <a:pt x="0" y="38862"/>
                  </a:moveTo>
                  <a:cubicBezTo>
                    <a:pt x="0" y="17399"/>
                    <a:pt x="17399" y="0"/>
                    <a:pt x="38862" y="0"/>
                  </a:cubicBezTo>
                  <a:lnTo>
                    <a:pt x="12418060" y="0"/>
                  </a:lnTo>
                  <a:cubicBezTo>
                    <a:pt x="12439523" y="0"/>
                    <a:pt x="12456922" y="17399"/>
                    <a:pt x="12456922" y="38862"/>
                  </a:cubicBezTo>
                  <a:lnTo>
                    <a:pt x="12456922" y="2252091"/>
                  </a:lnTo>
                  <a:cubicBezTo>
                    <a:pt x="12456922" y="2273554"/>
                    <a:pt x="12439523" y="2290953"/>
                    <a:pt x="12418060" y="2290953"/>
                  </a:cubicBezTo>
                  <a:lnTo>
                    <a:pt x="38862" y="2290953"/>
                  </a:lnTo>
                  <a:cubicBezTo>
                    <a:pt x="17399" y="2290953"/>
                    <a:pt x="0" y="2273554"/>
                    <a:pt x="0" y="225209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05651" y="2096986"/>
            <a:ext cx="583844" cy="583863"/>
            <a:chOff x="0" y="0"/>
            <a:chExt cx="778459" cy="7784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8510" cy="778510"/>
            </a:xfrm>
            <a:custGeom>
              <a:avLst/>
              <a:gdLst/>
              <a:ahLst/>
              <a:cxnLst/>
              <a:rect r="r" b="b" t="t" l="l"/>
              <a:pathLst>
                <a:path h="778510" w="778510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cubicBezTo>
                    <a:pt x="604266" y="0"/>
                    <a:pt x="778510" y="174244"/>
                    <a:pt x="778510" y="389255"/>
                  </a:cubicBezTo>
                  <a:cubicBezTo>
                    <a:pt x="778510" y="604266"/>
                    <a:pt x="604139" y="778510"/>
                    <a:pt x="389255" y="778510"/>
                  </a:cubicBezTo>
                  <a:cubicBezTo>
                    <a:pt x="174371" y="778510"/>
                    <a:pt x="0" y="604266"/>
                    <a:pt x="0" y="38925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8266214" y="2257406"/>
            <a:ext cx="262728" cy="262738"/>
          </a:xfrm>
          <a:custGeom>
            <a:avLst/>
            <a:gdLst/>
            <a:ahLst/>
            <a:cxnLst/>
            <a:rect r="r" b="b" t="t" l="l"/>
            <a:pathLst>
              <a:path h="262738" w="262728">
                <a:moveTo>
                  <a:pt x="0" y="0"/>
                </a:moveTo>
                <a:lnTo>
                  <a:pt x="262728" y="0"/>
                </a:lnTo>
                <a:lnTo>
                  <a:pt x="262728" y="262738"/>
                </a:lnTo>
                <a:lnTo>
                  <a:pt x="0" y="26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87" t="0" r="-178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105651" y="2778728"/>
            <a:ext cx="8953719" cy="31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Structured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05651" y="3150194"/>
            <a:ext cx="8953719" cy="27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Week-wise curriculum with clear, progressive milestones across 10 weeks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911141" y="3747145"/>
            <a:ext cx="9342758" cy="1718224"/>
            <a:chOff x="0" y="0"/>
            <a:chExt cx="12457011" cy="22909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56922" cy="2290953"/>
            </a:xfrm>
            <a:custGeom>
              <a:avLst/>
              <a:gdLst/>
              <a:ahLst/>
              <a:cxnLst/>
              <a:rect r="r" b="b" t="t" l="l"/>
              <a:pathLst>
                <a:path h="2290953" w="12456922">
                  <a:moveTo>
                    <a:pt x="0" y="38862"/>
                  </a:moveTo>
                  <a:cubicBezTo>
                    <a:pt x="0" y="17399"/>
                    <a:pt x="17399" y="0"/>
                    <a:pt x="38862" y="0"/>
                  </a:cubicBezTo>
                  <a:lnTo>
                    <a:pt x="12418060" y="0"/>
                  </a:lnTo>
                  <a:cubicBezTo>
                    <a:pt x="12439523" y="0"/>
                    <a:pt x="12456922" y="17399"/>
                    <a:pt x="12456922" y="38862"/>
                  </a:cubicBezTo>
                  <a:lnTo>
                    <a:pt x="12456922" y="2252091"/>
                  </a:lnTo>
                  <a:cubicBezTo>
                    <a:pt x="12456922" y="2273554"/>
                    <a:pt x="12439523" y="2290953"/>
                    <a:pt x="12418060" y="2290953"/>
                  </a:cubicBezTo>
                  <a:lnTo>
                    <a:pt x="38862" y="2290953"/>
                  </a:lnTo>
                  <a:cubicBezTo>
                    <a:pt x="17399" y="2290953"/>
                    <a:pt x="0" y="2273554"/>
                    <a:pt x="0" y="225209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05651" y="3941664"/>
            <a:ext cx="583844" cy="583863"/>
            <a:chOff x="0" y="0"/>
            <a:chExt cx="778459" cy="7784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8510" cy="778510"/>
            </a:xfrm>
            <a:custGeom>
              <a:avLst/>
              <a:gdLst/>
              <a:ahLst/>
              <a:cxnLst/>
              <a:rect r="r" b="b" t="t" l="l"/>
              <a:pathLst>
                <a:path h="778510" w="778510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cubicBezTo>
                    <a:pt x="604266" y="0"/>
                    <a:pt x="778510" y="174244"/>
                    <a:pt x="778510" y="389255"/>
                  </a:cubicBezTo>
                  <a:cubicBezTo>
                    <a:pt x="778510" y="604266"/>
                    <a:pt x="604139" y="778510"/>
                    <a:pt x="389255" y="778510"/>
                  </a:cubicBezTo>
                  <a:cubicBezTo>
                    <a:pt x="174371" y="778510"/>
                    <a:pt x="0" y="604266"/>
                    <a:pt x="0" y="38925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8266214" y="4102084"/>
            <a:ext cx="262728" cy="262738"/>
          </a:xfrm>
          <a:custGeom>
            <a:avLst/>
            <a:gdLst/>
            <a:ahLst/>
            <a:cxnLst/>
            <a:rect r="r" b="b" t="t" l="l"/>
            <a:pathLst>
              <a:path h="262738" w="262728">
                <a:moveTo>
                  <a:pt x="0" y="0"/>
                </a:moveTo>
                <a:lnTo>
                  <a:pt x="262728" y="0"/>
                </a:lnTo>
                <a:lnTo>
                  <a:pt x="262728" y="262738"/>
                </a:lnTo>
                <a:lnTo>
                  <a:pt x="0" y="2627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075" t="0" r="-16071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105651" y="4623406"/>
            <a:ext cx="8953719" cy="31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Practical Exposure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05651" y="4994872"/>
            <a:ext cx="8953719" cy="27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Hands-on projects in computer vision, object detection, and AI/ML deployment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11141" y="5591823"/>
            <a:ext cx="9342758" cy="1718224"/>
            <a:chOff x="0" y="0"/>
            <a:chExt cx="12457011" cy="22909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56922" cy="2290953"/>
            </a:xfrm>
            <a:custGeom>
              <a:avLst/>
              <a:gdLst/>
              <a:ahLst/>
              <a:cxnLst/>
              <a:rect r="r" b="b" t="t" l="l"/>
              <a:pathLst>
                <a:path h="2290953" w="12456922">
                  <a:moveTo>
                    <a:pt x="0" y="38862"/>
                  </a:moveTo>
                  <a:cubicBezTo>
                    <a:pt x="0" y="17399"/>
                    <a:pt x="17399" y="0"/>
                    <a:pt x="38862" y="0"/>
                  </a:cubicBezTo>
                  <a:lnTo>
                    <a:pt x="12418060" y="0"/>
                  </a:lnTo>
                  <a:cubicBezTo>
                    <a:pt x="12439523" y="0"/>
                    <a:pt x="12456922" y="17399"/>
                    <a:pt x="12456922" y="38862"/>
                  </a:cubicBezTo>
                  <a:lnTo>
                    <a:pt x="12456922" y="2252091"/>
                  </a:lnTo>
                  <a:cubicBezTo>
                    <a:pt x="12456922" y="2273554"/>
                    <a:pt x="12439523" y="2290953"/>
                    <a:pt x="12418060" y="2290953"/>
                  </a:cubicBezTo>
                  <a:lnTo>
                    <a:pt x="38862" y="2290953"/>
                  </a:lnTo>
                  <a:cubicBezTo>
                    <a:pt x="17399" y="2290953"/>
                    <a:pt x="0" y="2273554"/>
                    <a:pt x="0" y="225209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105651" y="5786342"/>
            <a:ext cx="583844" cy="583863"/>
            <a:chOff x="0" y="0"/>
            <a:chExt cx="778459" cy="7784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8510" cy="778510"/>
            </a:xfrm>
            <a:custGeom>
              <a:avLst/>
              <a:gdLst/>
              <a:ahLst/>
              <a:cxnLst/>
              <a:rect r="r" b="b" t="t" l="l"/>
              <a:pathLst>
                <a:path h="778510" w="778510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cubicBezTo>
                    <a:pt x="604266" y="0"/>
                    <a:pt x="778510" y="174244"/>
                    <a:pt x="778510" y="389255"/>
                  </a:cubicBezTo>
                  <a:cubicBezTo>
                    <a:pt x="778510" y="604266"/>
                    <a:pt x="604139" y="778510"/>
                    <a:pt x="389255" y="778510"/>
                  </a:cubicBezTo>
                  <a:cubicBezTo>
                    <a:pt x="174371" y="778510"/>
                    <a:pt x="0" y="604266"/>
                    <a:pt x="0" y="38925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8266214" y="5946762"/>
            <a:ext cx="262728" cy="262738"/>
          </a:xfrm>
          <a:custGeom>
            <a:avLst/>
            <a:gdLst/>
            <a:ahLst/>
            <a:cxnLst/>
            <a:rect r="r" b="b" t="t" l="l"/>
            <a:pathLst>
              <a:path h="262738" w="262728">
                <a:moveTo>
                  <a:pt x="0" y="0"/>
                </a:moveTo>
                <a:lnTo>
                  <a:pt x="262728" y="0"/>
                </a:lnTo>
                <a:lnTo>
                  <a:pt x="262728" y="262738"/>
                </a:lnTo>
                <a:lnTo>
                  <a:pt x="0" y="2627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925" r="0" b="-8929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105651" y="6468085"/>
            <a:ext cx="8953719" cy="31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Industry-Relevant Skills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05651" y="6839550"/>
            <a:ext cx="8953719" cy="27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Technologies actively used by leading global technology organizations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911141" y="7436501"/>
            <a:ext cx="9342758" cy="1718224"/>
            <a:chOff x="0" y="0"/>
            <a:chExt cx="12457011" cy="22909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456922" cy="2290953"/>
            </a:xfrm>
            <a:custGeom>
              <a:avLst/>
              <a:gdLst/>
              <a:ahLst/>
              <a:cxnLst/>
              <a:rect r="r" b="b" t="t" l="l"/>
              <a:pathLst>
                <a:path h="2290953" w="12456922">
                  <a:moveTo>
                    <a:pt x="0" y="38862"/>
                  </a:moveTo>
                  <a:cubicBezTo>
                    <a:pt x="0" y="17399"/>
                    <a:pt x="17399" y="0"/>
                    <a:pt x="38862" y="0"/>
                  </a:cubicBezTo>
                  <a:lnTo>
                    <a:pt x="12418060" y="0"/>
                  </a:lnTo>
                  <a:cubicBezTo>
                    <a:pt x="12439523" y="0"/>
                    <a:pt x="12456922" y="17399"/>
                    <a:pt x="12456922" y="38862"/>
                  </a:cubicBezTo>
                  <a:lnTo>
                    <a:pt x="12456922" y="2252091"/>
                  </a:lnTo>
                  <a:cubicBezTo>
                    <a:pt x="12456922" y="2273554"/>
                    <a:pt x="12439523" y="2290953"/>
                    <a:pt x="12418060" y="2290953"/>
                  </a:cubicBezTo>
                  <a:lnTo>
                    <a:pt x="38862" y="2290953"/>
                  </a:lnTo>
                  <a:cubicBezTo>
                    <a:pt x="17399" y="2290953"/>
                    <a:pt x="0" y="2273554"/>
                    <a:pt x="0" y="2252091"/>
                  </a:cubicBezTo>
                  <a:close/>
                </a:path>
              </a:pathLst>
            </a:custGeom>
            <a:solidFill>
              <a:srgbClr val="30475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105651" y="7631020"/>
            <a:ext cx="583844" cy="583863"/>
            <a:chOff x="0" y="0"/>
            <a:chExt cx="778459" cy="7784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8510" cy="778510"/>
            </a:xfrm>
            <a:custGeom>
              <a:avLst/>
              <a:gdLst/>
              <a:ahLst/>
              <a:cxnLst/>
              <a:rect r="r" b="b" t="t" l="l"/>
              <a:pathLst>
                <a:path h="778510" w="778510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cubicBezTo>
                    <a:pt x="604266" y="0"/>
                    <a:pt x="778510" y="174244"/>
                    <a:pt x="778510" y="389255"/>
                  </a:cubicBezTo>
                  <a:cubicBezTo>
                    <a:pt x="778510" y="604266"/>
                    <a:pt x="604139" y="778510"/>
                    <a:pt x="389255" y="778510"/>
                  </a:cubicBezTo>
                  <a:cubicBezTo>
                    <a:pt x="174371" y="778510"/>
                    <a:pt x="0" y="604266"/>
                    <a:pt x="0" y="389255"/>
                  </a:cubicBezTo>
                  <a:close/>
                </a:path>
              </a:pathLst>
            </a:custGeom>
            <a:solidFill>
              <a:srgbClr val="0A988B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8266214" y="7791431"/>
            <a:ext cx="262728" cy="262738"/>
          </a:xfrm>
          <a:custGeom>
            <a:avLst/>
            <a:gdLst/>
            <a:ahLst/>
            <a:cxnLst/>
            <a:rect r="r" b="b" t="t" l="l"/>
            <a:pathLst>
              <a:path h="262738" w="262728">
                <a:moveTo>
                  <a:pt x="0" y="0"/>
                </a:moveTo>
                <a:lnTo>
                  <a:pt x="262728" y="0"/>
                </a:lnTo>
                <a:lnTo>
                  <a:pt x="262728" y="262738"/>
                </a:lnTo>
                <a:lnTo>
                  <a:pt x="0" y="2627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9641" r="0" b="-19641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105651" y="8312763"/>
            <a:ext cx="8953719" cy="31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CAD6DE"/>
                </a:solidFill>
                <a:latin typeface="Arimo"/>
                <a:ea typeface="Arimo"/>
                <a:cs typeface="Arimo"/>
                <a:sym typeface="Arimo"/>
              </a:rPr>
              <a:t>Career Enhancement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05651" y="8684219"/>
            <a:ext cx="8953719" cy="27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Strengthened employability and technical confidence for the AI/ML industry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DAHSqMfvgXI</dc:identifier>
  <dcterms:modified xsi:type="dcterms:W3CDTF">2011-08-01T06:04:30Z</dcterms:modified>
  <cp:revision>1</cp:revision>
  <dc:title>AI-ML-Virtual-Internship.pptx</dc:title>
</cp:coreProperties>
</file>